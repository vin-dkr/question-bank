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jpe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jpe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jpe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jpe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jpe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jpe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jpe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positively charged particle is released from rest in an uniform electric field. The electric potential energy of the charge</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remains a constant because the electric field is uniform.</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increases because the charge moves along the electric field.</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decreases because the charge moves along the electric field.</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decreases because the charge moves opposite to the electric field.</a:t>
            </a:r>
            <a:endParaRPr lang="en-US" sz="1800" dirty="0"/>
          </a:p>
        </p:txBody>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pic>
        <p:nvPicPr>
          <p:cNvPr id="5" name="Image 0" descr="preencoded.png">    </p:cNvPr>
          <p:cNvPicPr>
            <a:picLocks noChangeAspect="1"/>
          </p:cNvPicPr>
          <p:nvPr/>
        </p:nvPicPr>
        <p:blipFill>
          <a:blip r:embed="rId1"/>
          <a:srcRect l="0" r="0" t="0" b="0"/>
          <a:stretch/>
        </p:blipFill>
        <p:spPr>
          <a:xfrm>
            <a:off x="914400" y="1257300"/>
            <a:ext cx="10363200" cy="1809750"/>
          </a:xfrm>
          <a:prstGeom prst="rect">
            <a:avLst/>
          </a:prstGeom>
        </p:spPr>
      </p:pic>
      <p:pic>
        <p:nvPicPr>
          <p:cNvPr id="6" name="Image 1" descr="preencoded.png">    </p:cNvPr>
          <p:cNvPicPr>
            <a:picLocks noChangeAspect="1"/>
          </p:cNvPicPr>
          <p:nvPr/>
        </p:nvPicPr>
        <p:blipFill>
          <a:blip r:embed="rId2"/>
          <a:srcRect l="0" r="0" t="0" b="0"/>
          <a:stretch/>
        </p:blipFill>
        <p:spPr>
          <a:xfrm>
            <a:off x="914400" y="3295650"/>
            <a:ext cx="5638800" cy="2571750"/>
          </a:xfrm>
          <a:prstGeom prst="rect">
            <a:avLst/>
          </a:prstGeom>
        </p:spPr>
      </p:pic>
      <p:pic>
        <p:nvPicPr>
          <p:cNvPr id="7" name="Image 2" descr="preencoded.png">    </p:cNvPr>
          <p:cNvPicPr>
            <a:picLocks noChangeAspect="1"/>
          </p:cNvPicPr>
          <p:nvPr/>
        </p:nvPicPr>
        <p:blipFill>
          <a:blip r:embed="rId3"/>
          <a:srcRect l="0" r="0" t="0" b="0"/>
          <a:stretch/>
        </p:blipFill>
        <p:spPr>
          <a:xfrm>
            <a:off x="6858000" y="3295650"/>
            <a:ext cx="4419600" cy="2571750"/>
          </a:xfrm>
          <a:prstGeom prst="rect">
            <a:avLst/>
          </a:prstGeom>
        </p:spPr>
      </p:pic>
      <p:sp>
        <p:nvSpPr>
          <p:cNvPr id="8" name="Text 3"/>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Q3.</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If the electric potential of the inner metal sphere is 10 volt &amp; that of the outer shell is 5 volt, then the potential at the centre will be :</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10 volt</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5 volt</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15 volt</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0</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Q3.</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Q4.</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hemispherical surface (half of a spherical surface) of radius R is located in a uniform electric field E that is parallel to the axis of the hemisphere. What is the magnitude of the electric flux through the hemisphere surface?</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0</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4πR²E/3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2πR²E</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πR²E</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Q4.</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Q5.</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pic>
        <p:nvPicPr>
          <p:cNvPr id="5" name="Image 0" descr="preencoded.png">    </p:cNvPr>
          <p:cNvPicPr>
            <a:picLocks noChangeAspect="1"/>
          </p:cNvPicPr>
          <p:nvPr/>
        </p:nvPicPr>
        <p:blipFill>
          <a:blip r:embed="rId1"/>
          <a:srcRect l="0" r="0" t="0" b="0"/>
          <a:stretch/>
        </p:blipFill>
        <p:spPr>
          <a:xfrm>
            <a:off x="914400" y="1257300"/>
            <a:ext cx="10363200" cy="1809750"/>
          </a:xfrm>
          <a:prstGeom prst="rect">
            <a:avLst/>
          </a:prstGeom>
        </p:spPr>
      </p:pic>
      <p:sp>
        <p:nvSpPr>
          <p:cNvPr id="6" name="Text 3"/>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1</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4</a:t>
            </a:r>
            <a:endParaRPr lang="en-US" sz="1800" dirty="0"/>
          </a:p>
        </p:txBody>
      </p:sp>
      <p:sp>
        <p:nvSpPr>
          <p:cNvPr id="7" name="Text 4"/>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Q5.</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Q6.</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charge q is placed at the centroid of an equilateral triangle. Three equal charges Q are placed at the vertices of the triangle. The system of four charges will be in equilibrium if q is equal to :-</a:t>
            </a:r>
            <a:endParaRPr lang="en-US" sz="2400" dirty="0"/>
          </a:p>
        </p:txBody>
      </p:sp>
      <p:pic>
        <p:nvPicPr>
          <p:cNvPr id="6" name="Image 0" descr="preencoded.png">    </p:cNvPr>
          <p:cNvPicPr>
            <a:picLocks noChangeAspect="1"/>
          </p:cNvPicPr>
          <p:nvPr/>
        </p:nvPicPr>
        <p:blipFill>
          <a:blip r:embed="rId1"/>
          <a:srcRect l="0" r="0" t="0" b="0"/>
          <a:stretch/>
        </p:blipFill>
        <p:spPr>
          <a:xfrm>
            <a:off x="914400" y="3295650"/>
            <a:ext cx="5638800" cy="2571750"/>
          </a:xfrm>
          <a:prstGeom prst="rect">
            <a:avLst/>
          </a:prstGeom>
        </p:spPr>
      </p:pic>
      <p:sp>
        <p:nvSpPr>
          <p:cNvPr id="7" name="Text 4"/>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Q6.</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Q7.</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dipole</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Electric field lines in which an electric dipole p is placed as shown. Which of the following statements is correct?</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The dipole will not experience any force.</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The dipole will experience a force towards right.</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The dipole will experience a force towards left.</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The dipole will experience a force upwards.</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Q7.</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dipole</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Q8.</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Three positive charges of equal value q are placed at the vertices of an equilateral triangle. The resulting lines of force should be sketched as in</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Option A</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Option B</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Option C</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Option D</a:t>
            </a:r>
            <a:endParaRPr lang="en-US" sz="1800" dirty="0"/>
          </a:p>
        </p:txBody>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Q8.</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Q9.</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solid sphere of radius R is charged uniformly. At what distance from its surface is the electrostatic potential half of the potential at the centre?</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R</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R/2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R/3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2R</a:t>
            </a:r>
            <a:endParaRPr lang="en-US" sz="1800" dirty="0"/>
          </a:p>
        </p:txBody>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Q9.</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Q10.</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pic>
        <p:nvPicPr>
          <p:cNvPr id="5" name="Image 0" descr="preencoded.png">    </p:cNvPr>
          <p:cNvPicPr>
            <a:picLocks noChangeAspect="1"/>
          </p:cNvPicPr>
          <p:nvPr/>
        </p:nvPicPr>
        <p:blipFill>
          <a:blip r:embed="rId1"/>
          <a:srcRect l="0" r="0" t="0" b="0"/>
          <a:stretch/>
        </p:blipFill>
        <p:spPr>
          <a:xfrm>
            <a:off x="914400" y="1257300"/>
            <a:ext cx="10363200" cy="1809750"/>
          </a:xfrm>
          <a:prstGeom prst="rect">
            <a:avLst/>
          </a:prstGeom>
        </p:spPr>
      </p:pic>
      <p:pic>
        <p:nvPicPr>
          <p:cNvPr id="6" name="Image 1" descr="preencoded.png">    </p:cNvPr>
          <p:cNvPicPr>
            <a:picLocks noChangeAspect="1"/>
          </p:cNvPicPr>
          <p:nvPr/>
        </p:nvPicPr>
        <p:blipFill>
          <a:blip r:embed="rId2"/>
          <a:srcRect l="0" r="0" t="0" b="0"/>
          <a:stretch/>
        </p:blipFill>
        <p:spPr>
          <a:xfrm>
            <a:off x="914400" y="3295650"/>
            <a:ext cx="5638800" cy="2571750"/>
          </a:xfrm>
          <a:prstGeom prst="rect">
            <a:avLst/>
          </a:prstGeom>
        </p:spPr>
      </p:pic>
      <p:pic>
        <p:nvPicPr>
          <p:cNvPr id="7" name="Image 2" descr="preencoded.png">    </p:cNvPr>
          <p:cNvPicPr>
            <a:picLocks noChangeAspect="1"/>
          </p:cNvPicPr>
          <p:nvPr/>
        </p:nvPicPr>
        <p:blipFill>
          <a:blip r:embed="rId3"/>
          <a:srcRect l="0" r="0" t="0" b="0"/>
          <a:stretch/>
        </p:blipFill>
        <p:spPr>
          <a:xfrm>
            <a:off x="6858000" y="3295650"/>
            <a:ext cx="4419600" cy="2571750"/>
          </a:xfrm>
          <a:prstGeom prst="rect">
            <a:avLst/>
          </a:prstGeom>
        </p:spPr>
      </p:pic>
      <p:sp>
        <p:nvSpPr>
          <p:cNvPr id="8" name="Text 3"/>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Q10.</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Q11.</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The variation of electric field between the two charges q1 and q2 along the line joining the charges is plotted against distance from q1 (taking rightward direction of electric field as positive) as shown in the figure. Then the correct statement is :-</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q1 and q2 are positive and q1 &lt; q2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q1 and q2 are positive and q1 &gt; q2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q1 is positive and q2 is negative and q1 &lt; q2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q1 and q2 are negative and q1 &lt; q2</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Q11.</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Q12.</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point charge q is placed at a point inside a hollow conducting sphere. Which of the following electric force pattern is correct?</a:t>
            </a:r>
            <a:endParaRPr lang="en-US" sz="2400" dirty="0"/>
          </a:p>
        </p:txBody>
      </p:sp>
      <p:sp>
        <p:nvSpPr>
          <p:cNvPr id="6" name="Text 4"/>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Q12.</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Q13.</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metallic solid sphere is placed in a uniform electric field. The lines of force follow the path (s) shown in figure as :</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1</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4</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Q13.</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Q14.</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pic>
        <p:nvPicPr>
          <p:cNvPr id="5" name="Image 0" descr="preencoded.png">    </p:cNvPr>
          <p:cNvPicPr>
            <a:picLocks noChangeAspect="1"/>
          </p:cNvPicPr>
          <p:nvPr/>
        </p:nvPicPr>
        <p:blipFill>
          <a:blip r:embed="rId1"/>
          <a:srcRect l="0" r="0" t="0" b="0"/>
          <a:stretch/>
        </p:blipFill>
        <p:spPr>
          <a:xfrm>
            <a:off x="914400" y="1257300"/>
            <a:ext cx="10363200" cy="1809750"/>
          </a:xfrm>
          <a:prstGeom prst="rect">
            <a:avLst/>
          </a:prstGeom>
        </p:spPr>
      </p:pic>
      <p:sp>
        <p:nvSpPr>
          <p:cNvPr id="6" name="Text 3"/>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1</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None of these</a:t>
            </a:r>
            <a:endParaRPr lang="en-US" sz="1800" dirty="0"/>
          </a:p>
        </p:txBody>
      </p:sp>
      <p:sp>
        <p:nvSpPr>
          <p:cNvPr id="7" name="Text 4"/>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Q14.</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Q15.</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When a negative charge is released and moves in electric field, it moves toward a position of</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lower electric potential and lower potential energy</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lower electric potential and higher potential energy</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higher electric potential and lower potential energy</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higher electric potential and higher potential energy</a:t>
            </a:r>
            <a:endParaRPr lang="en-US" sz="1800" dirty="0"/>
          </a:p>
        </p:txBody>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Q15.</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potential energy and electric potential</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Q16.</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pic>
        <p:nvPicPr>
          <p:cNvPr id="5" name="Image 0" descr="preencoded.png">    </p:cNvPr>
          <p:cNvPicPr>
            <a:picLocks noChangeAspect="1"/>
          </p:cNvPicPr>
          <p:nvPr/>
        </p:nvPicPr>
        <p:blipFill>
          <a:blip r:embed="rId1"/>
          <a:srcRect l="0" r="0" t="0" b="0"/>
          <a:stretch/>
        </p:blipFill>
        <p:spPr>
          <a:xfrm>
            <a:off x="914400" y="1257300"/>
            <a:ext cx="10363200" cy="1809750"/>
          </a:xfrm>
          <a:prstGeom prst="rect">
            <a:avLst/>
          </a:prstGeom>
        </p:spPr>
      </p:pic>
      <p:sp>
        <p:nvSpPr>
          <p:cNvPr id="6" name="Text 3"/>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Statement-1 is true, statement-2 is true and statement-2 is correct explanation for statement-1.</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Statement-1 is true, statement-2 is true and statement-2 is NOT the correct explanation for statement-1.</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Statement-1 is true, statement-2 is false.</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Statement-1 is false, statement-2 is true.</a:t>
            </a:r>
            <a:endParaRPr lang="en-US" sz="1800" dirty="0"/>
          </a:p>
        </p:txBody>
      </p:sp>
      <p:pic>
        <p:nvPicPr>
          <p:cNvPr id="7" name="Image 1" descr="preencoded.png">    </p:cNvPr>
          <p:cNvPicPr>
            <a:picLocks noChangeAspect="1"/>
          </p:cNvPicPr>
          <p:nvPr/>
        </p:nvPicPr>
        <p:blipFill>
          <a:blip r:embed="rId2"/>
          <a:srcRect l="0" r="0" t="0" b="0"/>
          <a:stretch/>
        </p:blipFill>
        <p:spPr>
          <a:xfrm>
            <a:off x="6858000" y="3295650"/>
            <a:ext cx="4419600" cy="2571750"/>
          </a:xfrm>
          <a:prstGeom prst="rect">
            <a:avLst/>
          </a:prstGeom>
        </p:spPr>
      </p:pic>
      <p:sp>
        <p:nvSpPr>
          <p:cNvPr id="8" name="Text 4"/>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Q16.</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Q17.</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pic>
        <p:nvPicPr>
          <p:cNvPr id="5" name="Image 0" descr="preencoded.png">    </p:cNvPr>
          <p:cNvPicPr>
            <a:picLocks noChangeAspect="1"/>
          </p:cNvPicPr>
          <p:nvPr/>
        </p:nvPicPr>
        <p:blipFill>
          <a:blip r:embed="rId1"/>
          <a:srcRect l="0" r="0" t="0" b="0"/>
          <a:stretch/>
        </p:blipFill>
        <p:spPr>
          <a:xfrm>
            <a:off x="914400" y="1257300"/>
            <a:ext cx="10363200" cy="1809750"/>
          </a:xfrm>
          <a:prstGeom prst="rect">
            <a:avLst/>
          </a:prstGeom>
        </p:spPr>
      </p:pic>
      <p:pic>
        <p:nvPicPr>
          <p:cNvPr id="6" name="Image 1" descr="preencoded.png">    </p:cNvPr>
          <p:cNvPicPr>
            <a:picLocks noChangeAspect="1"/>
          </p:cNvPicPr>
          <p:nvPr/>
        </p:nvPicPr>
        <p:blipFill>
          <a:blip r:embed="rId2"/>
          <a:srcRect l="0" r="0" t="0" b="0"/>
          <a:stretch/>
        </p:blipFill>
        <p:spPr>
          <a:xfrm>
            <a:off x="914400" y="3295650"/>
            <a:ext cx="5638800" cy="2571750"/>
          </a:xfrm>
          <a:prstGeom prst="rect">
            <a:avLst/>
          </a:prstGeom>
        </p:spPr>
      </p:pic>
      <p:pic>
        <p:nvPicPr>
          <p:cNvPr id="7" name="Image 2" descr="preencoded.png">    </p:cNvPr>
          <p:cNvPicPr>
            <a:picLocks noChangeAspect="1"/>
          </p:cNvPicPr>
          <p:nvPr/>
        </p:nvPicPr>
        <p:blipFill>
          <a:blip r:embed="rId3"/>
          <a:srcRect l="0" r="0" t="0" b="0"/>
          <a:stretch/>
        </p:blipFill>
        <p:spPr>
          <a:xfrm>
            <a:off x="6858000" y="3295650"/>
            <a:ext cx="4419600" cy="2571750"/>
          </a:xfrm>
          <a:prstGeom prst="rect">
            <a:avLst/>
          </a:prstGeom>
        </p:spPr>
      </p:pic>
      <p:sp>
        <p:nvSpPr>
          <p:cNvPr id="8" name="Text 3"/>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Q17.</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Q18.</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Three charges +q, +2q and +4q are connected by strings as shown in the figure. What is ratio of tensions in the strings AB and BC.</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1 : 2</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1 : 3</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2 : 1</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3 : 1</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Q18.</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Q19.</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 point positive charge is brought near an isolated conducting sphere. The electric field is best given by</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Fig (i)</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Fig (iii)</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Fig (ii)</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Fig (iv)</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Q19.</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Q20.</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n small drops of same size are charged to V volts each. If they coalesce to form a signal large drop, then its potential will be :-</a:t>
            </a:r>
            <a:endParaRPr lang="en-US" sz="2400" dirty="0"/>
          </a:p>
        </p:txBody>
      </p:sp>
      <p:pic>
        <p:nvPicPr>
          <p:cNvPr id="6" name="Image 0" descr="preencoded.png">    </p:cNvPr>
          <p:cNvPicPr>
            <a:picLocks noChangeAspect="1"/>
          </p:cNvPicPr>
          <p:nvPr/>
        </p:nvPicPr>
        <p:blipFill>
          <a:blip r:embed="rId1"/>
          <a:srcRect l="0" r="0" t="0" b="0"/>
          <a:stretch/>
        </p:blipFill>
        <p:spPr>
          <a:xfrm>
            <a:off x="914400" y="3295650"/>
            <a:ext cx="5638800" cy="2571750"/>
          </a:xfrm>
          <a:prstGeom prst="rect">
            <a:avLst/>
          </a:prstGeom>
        </p:spPr>
      </p:pic>
      <p:sp>
        <p:nvSpPr>
          <p:cNvPr id="7" name="Text 4"/>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Q20.</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Q21.</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Charge Q, 2Q and –Q are given to three concentric conducting spherical shells A, B and C respectively. The ratio of charges on the inner and the outer surfaces of the shell ‘C’ will be :-</a:t>
            </a:r>
            <a:endParaRPr lang="en-US" sz="2400" dirty="0"/>
          </a:p>
        </p:txBody>
      </p:sp>
      <p:pic>
        <p:nvPicPr>
          <p:cNvPr id="6" name="Image 0" descr="preencoded.png">    </p:cNvPr>
          <p:cNvPicPr>
            <a:picLocks noChangeAspect="1"/>
          </p:cNvPicPr>
          <p:nvPr/>
        </p:nvPicPr>
        <p:blipFill>
          <a:blip r:embed="rId1"/>
          <a:srcRect l="0" r="0" t="0" b="0"/>
          <a:stretch/>
        </p:blipFill>
        <p:spPr>
          <a:xfrm>
            <a:off x="914400" y="3295650"/>
            <a:ext cx="5638800" cy="2571750"/>
          </a:xfrm>
          <a:prstGeom prst="rect">
            <a:avLst/>
          </a:prstGeom>
        </p:spPr>
      </p:pic>
      <p:pic>
        <p:nvPicPr>
          <p:cNvPr id="7" name="Image 1" descr="preencoded.png">    </p:cNvPr>
          <p:cNvPicPr>
            <a:picLocks noChangeAspect="1"/>
          </p:cNvPicPr>
          <p:nvPr/>
        </p:nvPicPr>
        <p:blipFill>
          <a:blip r:embed="rId2"/>
          <a:srcRect l="0" r="0" t="0" b="0"/>
          <a:stretch/>
        </p:blipFill>
        <p:spPr>
          <a:xfrm>
            <a:off x="6858000" y="3295650"/>
            <a:ext cx="4419600" cy="2571750"/>
          </a:xfrm>
          <a:prstGeom prst="rect">
            <a:avLst/>
          </a:prstGeom>
        </p:spPr>
      </p:pic>
      <p:sp>
        <p:nvSpPr>
          <p:cNvPr id="8" name="Text 4"/>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Q21.</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Conductors</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Q22.</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Three large parallel plates have uniform surface charge densities as shown in the figure. What is the electric field at P?</a:t>
            </a:r>
            <a:endParaRPr lang="en-US" sz="2400" dirty="0"/>
          </a:p>
        </p:txBody>
      </p:sp>
      <p:pic>
        <p:nvPicPr>
          <p:cNvPr id="6" name="Image 0" descr="preencoded.png">    </p:cNvPr>
          <p:cNvPicPr>
            <a:picLocks noChangeAspect="1"/>
          </p:cNvPicPr>
          <p:nvPr/>
        </p:nvPicPr>
        <p:blipFill>
          <a:blip r:embed="rId1"/>
          <a:srcRect l="0" r="0" t="0" b="0"/>
          <a:stretch/>
        </p:blipFill>
        <p:spPr>
          <a:xfrm>
            <a:off x="914400" y="3295650"/>
            <a:ext cx="5638800" cy="2571750"/>
          </a:xfrm>
          <a:prstGeom prst="rect">
            <a:avLst/>
          </a:prstGeom>
        </p:spPr>
      </p:pic>
      <p:pic>
        <p:nvPicPr>
          <p:cNvPr id="7" name="Image 1" descr="preencoded.png">    </p:cNvPr>
          <p:cNvPicPr>
            <a:picLocks noChangeAspect="1"/>
          </p:cNvPicPr>
          <p:nvPr/>
        </p:nvPicPr>
        <p:blipFill>
          <a:blip r:embed="rId2"/>
          <a:srcRect l="0" r="0" t="0" b="0"/>
          <a:stretch/>
        </p:blipFill>
        <p:spPr>
          <a:xfrm>
            <a:off x="6858000" y="3295650"/>
            <a:ext cx="4419600" cy="2571750"/>
          </a:xfrm>
          <a:prstGeom prst="rect">
            <a:avLst/>
          </a:prstGeom>
        </p:spPr>
      </p:pic>
      <p:sp>
        <p:nvSpPr>
          <p:cNvPr id="8" name="Text 4"/>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Q22.</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Q23.</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pic>
        <p:nvPicPr>
          <p:cNvPr id="5" name="Image 0" descr="preencoded.png">    </p:cNvPr>
          <p:cNvPicPr>
            <a:picLocks noChangeAspect="1"/>
          </p:cNvPicPr>
          <p:nvPr/>
        </p:nvPicPr>
        <p:blipFill>
          <a:blip r:embed="rId1"/>
          <a:srcRect l="0" r="0" t="0" b="0"/>
          <a:stretch/>
        </p:blipFill>
        <p:spPr>
          <a:xfrm>
            <a:off x="914400" y="1257300"/>
            <a:ext cx="10363200" cy="1809750"/>
          </a:xfrm>
          <a:prstGeom prst="rect">
            <a:avLst/>
          </a:prstGeom>
        </p:spPr>
      </p:pic>
      <p:pic>
        <p:nvPicPr>
          <p:cNvPr id="6" name="Image 1" descr="preencoded.png">    </p:cNvPr>
          <p:cNvPicPr>
            <a:picLocks noChangeAspect="1"/>
          </p:cNvPicPr>
          <p:nvPr/>
        </p:nvPicPr>
        <p:blipFill>
          <a:blip r:embed="rId2"/>
          <a:srcRect l="0" r="0" t="0" b="0"/>
          <a:stretch/>
        </p:blipFill>
        <p:spPr>
          <a:xfrm>
            <a:off x="914400" y="3295650"/>
            <a:ext cx="5638800" cy="2571750"/>
          </a:xfrm>
          <a:prstGeom prst="rect">
            <a:avLst/>
          </a:prstGeom>
        </p:spPr>
      </p:pic>
      <p:pic>
        <p:nvPicPr>
          <p:cNvPr id="7" name="Image 2" descr="preencoded.png">    </p:cNvPr>
          <p:cNvPicPr>
            <a:picLocks noChangeAspect="1"/>
          </p:cNvPicPr>
          <p:nvPr/>
        </p:nvPicPr>
        <p:blipFill>
          <a:blip r:embed="rId3"/>
          <a:srcRect l="0" r="0" t="0" b="0"/>
          <a:stretch/>
        </p:blipFill>
        <p:spPr>
          <a:xfrm>
            <a:off x="6858000" y="3295650"/>
            <a:ext cx="4419600" cy="2571750"/>
          </a:xfrm>
          <a:prstGeom prst="rect">
            <a:avLst/>
          </a:prstGeom>
        </p:spPr>
      </p:pic>
      <p:sp>
        <p:nvSpPr>
          <p:cNvPr id="8" name="Text 3"/>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Q23.</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Gauss’ law</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Q24.</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The fig. shows the distribution of three charges –Q, +Q and –Q on the X-axis. Which of the following figures shows the possible electric field lines for the distribution?</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Option A</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Option B</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Option C</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Option D</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Q24.</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Q25.</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10363200" cy="1809750"/>
          </a:xfrm>
          <a:prstGeom prst="rect">
            <a:avLst/>
          </a:prstGeom>
          <a:noFill/>
          <a:ln/>
        </p:spPr>
        <p:txBody>
          <a:bodyPr wrap="square" lIns="0" tIns="0" rIns="0" bIns="0" rtlCol="0" anchor="t">
            <a:normAutofit/>
          </a:bodyPr>
          <a:lstStyle/>
          <a:p>
            <a:pPr algn="l" indent="0" marL="0">
              <a:lnSpc>
                <a:spcPct val="135000"/>
              </a:lnSpc>
              <a:buNone/>
            </a:pPr>
            <a:r>
              <a:rPr lang="en-US" sz="2400" dirty="0">
                <a:solidFill>
                  <a:srgbClr val="FFFFFF"/>
                </a:solidFill>
                <a:latin typeface="Inter" pitchFamily="34" charset="0"/>
                <a:ea typeface="Inter" pitchFamily="34" charset="-122"/>
                <a:cs typeface="Inter" pitchFamily="34" charset="-120"/>
              </a:rPr>
              <a:t>As shown in the figure, an insulating rod is set into the shape of a semicircle. The left half of the rod has a charge of +Q uniformly distributed along its length, and the right half of the rod has a charge of –Q uniformly distributed along its length. What vector shows the correct direction of the electric field at point P, the centre of the semicircle?</a:t>
            </a:r>
            <a:endParaRPr lang="en-US" sz="2400" dirty="0"/>
          </a:p>
        </p:txBody>
      </p:sp>
      <p:sp>
        <p:nvSpPr>
          <p:cNvPr id="6" name="Text 4"/>
          <p:cNvSpPr/>
          <p:nvPr/>
        </p:nvSpPr>
        <p:spPr>
          <a:xfrm>
            <a:off x="914400" y="3295650"/>
            <a:ext cx="5638800" cy="2571750"/>
          </a:xfrm>
          <a:prstGeom prst="rect">
            <a:avLst/>
          </a:prstGeom>
          <a:noFill/>
          <a:ln/>
        </p:spPr>
        <p:txBody>
          <a:bodyPr wrap="square" lIns="0" tIns="0" rIns="0" bIns="0" rtlCol="0" anchor="t">
            <a:normAutofit/>
          </a:bodyPr>
          <a:lstStyle/>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(A) A</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(B) B</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(C) C</a:t>
            </a:r>
            <a:endParaRPr lang="en-US" sz="1800" dirty="0"/>
          </a:p>
          <a:p>
            <a:pPr algn="l" indent="0" marL="0">
              <a:lnSpc>
                <a:spcPct val="160000"/>
              </a:lnSpc>
              <a:buNone/>
            </a:pPr>
            <a:r>
              <a:rPr lang="en-US" sz="1800" dirty="0">
                <a:solidFill>
                  <a:srgbClr val="D7DCE3"/>
                </a:solidFill>
                <a:latin typeface="Inter" pitchFamily="34" charset="0"/>
                <a:ea typeface="Inter" pitchFamily="34" charset="-122"/>
                <a:cs typeface="Inter" pitchFamily="34" charset="-120"/>
              </a:rPr>
              <a:t>(D) D</a:t>
            </a:r>
            <a:endParaRPr lang="en-US" sz="1800" dirty="0"/>
          </a:p>
        </p:txBody>
      </p:sp>
      <p:pic>
        <p:nvPicPr>
          <p:cNvPr id="7" name="Image 0" descr="preencoded.png">    </p:cNvPr>
          <p:cNvPicPr>
            <a:picLocks noChangeAspect="1"/>
          </p:cNvPicPr>
          <p:nvPr/>
        </p:nvPicPr>
        <p:blipFill>
          <a:blip r:embed="rId1"/>
          <a:srcRect l="0" r="0" t="0" b="0"/>
          <a:stretch/>
        </p:blipFill>
        <p:spPr>
          <a:xfrm>
            <a:off x="6858000" y="3295650"/>
            <a:ext cx="4419600" cy="2571750"/>
          </a:xfrm>
          <a:prstGeom prst="rect">
            <a:avLst/>
          </a:prstGeom>
        </p:spPr>
      </p:pic>
      <p:sp>
        <p:nvSpPr>
          <p:cNvPr id="8"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PRACTICE SET</a:t>
            </a:r>
            <a:endParaRPr lang="en-US" sz="97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0" y="0"/>
            <a:ext cx="12192000" cy="95250"/>
          </a:xfrm>
          <a:prstGeom prst="roundRect">
            <a:avLst/>
          </a:prstGeom>
          <a:solidFill>
            <a:srgbClr val="E0A83E"/>
          </a:solidFill>
          <a:ln/>
        </p:spPr>
      </p:sp>
      <p:sp>
        <p:nvSpPr>
          <p:cNvPr id="3" name="Text 1"/>
          <p:cNvSpPr/>
          <p:nvPr/>
        </p:nvSpPr>
        <p:spPr>
          <a:xfrm>
            <a:off x="914400" y="495300"/>
            <a:ext cx="2857500" cy="381000"/>
          </a:xfrm>
          <a:prstGeom prst="rect">
            <a:avLst/>
          </a:prstGeom>
          <a:noFill/>
          <a:ln/>
        </p:spPr>
        <p:txBody>
          <a:bodyPr wrap="square" lIns="0" tIns="0" rIns="0" bIns="0" rtlCol="0" anchor="ctr">
            <a:normAutofit/>
          </a:bodyPr>
          <a:lstStyle/>
          <a:p>
            <a:pPr algn="l" indent="0" marL="0">
              <a:lnSpc>
                <a:spcPct val="140000"/>
              </a:lnSpc>
              <a:buNone/>
            </a:pPr>
            <a:r>
              <a:rPr lang="en-US" sz="1800" b="1" spc="75" kern="0" dirty="0">
                <a:solidFill>
                  <a:srgbClr val="E0A83E"/>
                </a:solidFill>
                <a:latin typeface="JetBrains Mono" pitchFamily="34" charset="0"/>
                <a:ea typeface="JetBrains Mono" pitchFamily="34" charset="-122"/>
                <a:cs typeface="JetBrains Mono" pitchFamily="34" charset="-120"/>
              </a:rPr>
              <a:t>Q25.</a:t>
            </a:r>
            <a:endParaRPr lang="en-US" sz="1800" dirty="0"/>
          </a:p>
        </p:txBody>
      </p:sp>
      <p:sp>
        <p:nvSpPr>
          <p:cNvPr id="4" name="Text 2"/>
          <p:cNvSpPr/>
          <p:nvPr/>
        </p:nvSpPr>
        <p:spPr>
          <a:xfrm>
            <a:off x="6667500" y="495300"/>
            <a:ext cx="4610100" cy="381000"/>
          </a:xfrm>
          <a:prstGeom prst="rect">
            <a:avLst/>
          </a:prstGeom>
          <a:noFill/>
          <a:ln/>
        </p:spPr>
        <p:txBody>
          <a:bodyPr wrap="square" lIns="0" tIns="0" rIns="0" bIns="0" rtlCol="0" anchor="ctr">
            <a:normAutofit/>
          </a:bodyPr>
          <a:lstStyle/>
          <a:p>
            <a:pPr algn="r" indent="0" marL="0">
              <a:lnSpc>
                <a:spcPct val="140000"/>
              </a:lnSpc>
              <a:buNone/>
            </a:pPr>
            <a:r>
              <a:rPr lang="en-US" sz="1200" b="1" spc="150" kern="0" dirty="0">
                <a:solidFill>
                  <a:srgbClr val="8A929E"/>
                </a:solidFill>
                <a:latin typeface="Inter" pitchFamily="34" charset="0"/>
                <a:ea typeface="Inter" pitchFamily="34" charset="-122"/>
                <a:cs typeface="Inter" pitchFamily="34" charset="-120"/>
              </a:rPr>
              <a:t>Electric field</a:t>
            </a:r>
            <a:endParaRPr lang="en-US" sz="1200" dirty="0"/>
          </a:p>
        </p:txBody>
      </p:sp>
      <p:sp>
        <p:nvSpPr>
          <p:cNvPr id="5" name="Text 3"/>
          <p:cNvSpPr/>
          <p:nvPr/>
        </p:nvSpPr>
        <p:spPr>
          <a:xfrm>
            <a:off x="914400" y="1257300"/>
            <a:ext cx="5715000" cy="342900"/>
          </a:xfrm>
          <a:prstGeom prst="rect">
            <a:avLst/>
          </a:prstGeom>
          <a:noFill/>
          <a:ln/>
        </p:spPr>
        <p:txBody>
          <a:bodyPr wrap="square" lIns="0" tIns="0" rIns="0" bIns="0" rtlCol="0" anchor="ctr">
            <a:normAutofit/>
          </a:bodyPr>
          <a:lstStyle/>
          <a:p>
            <a:pPr algn="l" indent="0" marL="0">
              <a:lnSpc>
                <a:spcPct val="140000"/>
              </a:lnSpc>
              <a:buNone/>
            </a:pPr>
            <a:r>
              <a:rPr lang="en-US" sz="1125" b="1" spc="225" kern="0" dirty="0">
                <a:solidFill>
                  <a:srgbClr val="8A929E"/>
                </a:solidFill>
                <a:latin typeface="JetBrains Mono" pitchFamily="34" charset="0"/>
                <a:ea typeface="JetBrains Mono" pitchFamily="34" charset="-122"/>
                <a:cs typeface="JetBrains Mono" pitchFamily="34" charset="-120"/>
              </a:rPr>
              <a:t>SOLUTION</a:t>
            </a:r>
            <a:endParaRPr lang="en-US" sz="1125" dirty="0"/>
          </a:p>
        </p:txBody>
      </p:sp>
      <p:sp>
        <p:nvSpPr>
          <p:cNvPr id="6" name="Shape 4"/>
          <p:cNvSpPr/>
          <p:nvPr/>
        </p:nvSpPr>
        <p:spPr>
          <a:xfrm>
            <a:off x="914400" y="1752600"/>
            <a:ext cx="10363200" cy="4114800"/>
          </a:xfrm>
          <a:prstGeom prst="roundRect">
            <a:avLst>
              <a:gd name="adj" fmla="val 514"/>
            </a:avLst>
          </a:prstGeom>
          <a:ln w="19050">
            <a:solidFill>
              <a:srgbClr val="5B6472">
                <a:alpha val="55000"/>
              </a:srgbClr>
            </a:solidFill>
            <a:prstDash val="solid"/>
          </a:ln>
        </p:spPr>
      </p:sp>
      <p:sp>
        <p:nvSpPr>
          <p:cNvPr id="7" name="Text 5"/>
          <p:cNvSpPr/>
          <p:nvPr/>
        </p:nvSpPr>
        <p:spPr>
          <a:xfrm>
            <a:off x="914400" y="6229350"/>
            <a:ext cx="5715000" cy="285750"/>
          </a:xfrm>
          <a:prstGeom prst="rect">
            <a:avLst/>
          </a:prstGeom>
          <a:noFill/>
          <a:ln/>
        </p:spPr>
        <p:txBody>
          <a:bodyPr wrap="square" lIns="0" tIns="0" rIns="0" bIns="0" rtlCol="0" anchor="ctr">
            <a:normAutofit/>
          </a:bodyPr>
          <a:lstStyle/>
          <a:p>
            <a:pPr algn="l" indent="0" marL="0">
              <a:lnSpc>
                <a:spcPct val="140000"/>
              </a:lnSpc>
              <a:buNone/>
            </a:pPr>
            <a:r>
              <a:rPr lang="en-US" sz="975" b="1" spc="225" kern="0" dirty="0">
                <a:solidFill>
                  <a:srgbClr val="5B6472"/>
                </a:solidFill>
                <a:latin typeface="JetBrains Mono" pitchFamily="34" charset="0"/>
                <a:ea typeface="JetBrains Mono" pitchFamily="34" charset="-122"/>
                <a:cs typeface="JetBrains Mono" pitchFamily="34" charset="-120"/>
              </a:rPr>
              <a:t>SOLUTION</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 12</dc:title>
  <dc:subject>Physics</dc:subject>
  <dc:creator>PptxGenJS</dc:creator>
  <cp:lastModifiedBy>PptxGenJS</cp:lastModifiedBy>
  <cp:revision>1</cp:revision>
  <dcterms:created xsi:type="dcterms:W3CDTF">2026-08-14T19:45:23Z</dcterms:created>
  <dcterms:modified xsi:type="dcterms:W3CDTF">2026-08-14T19:45:23Z</dcterms:modified>
</cp:coreProperties>
</file>